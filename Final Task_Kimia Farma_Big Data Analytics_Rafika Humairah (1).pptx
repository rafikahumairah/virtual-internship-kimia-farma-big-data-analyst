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ubik Medium"/>
      <p:regular r:id="rId16"/>
      <p:bold r:id="rId17"/>
      <p:italic r:id="rId18"/>
      <p:boldItalic r:id="rId19"/>
    </p:embeddedFont>
    <p:embeddedFont>
      <p:font typeface="Rubik Light"/>
      <p:regular r:id="rId20"/>
      <p:bold r:id="rId21"/>
      <p:italic r:id="rId22"/>
      <p:boldItalic r:id="rId23"/>
    </p:embeddedFont>
    <p:embeddedFont>
      <p:font typeface="Rubik"/>
      <p:regular r:id="rId24"/>
      <p:bold r:id="rId25"/>
      <p:italic r:id="rId26"/>
      <p:boldItalic r:id="rId27"/>
    </p:embeddedFont>
    <p:embeddedFont>
      <p:font typeface="Rubik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ubikLight-regular.fntdata"/><Relationship Id="rId22" Type="http://schemas.openxmlformats.org/officeDocument/2006/relationships/font" Target="fonts/RubikLight-italic.fntdata"/><Relationship Id="rId21" Type="http://schemas.openxmlformats.org/officeDocument/2006/relationships/font" Target="fonts/RubikLight-bold.fntdata"/><Relationship Id="rId24" Type="http://schemas.openxmlformats.org/officeDocument/2006/relationships/font" Target="fonts/Rubik-regular.fntdata"/><Relationship Id="rId23" Type="http://schemas.openxmlformats.org/officeDocument/2006/relationships/font" Target="fonts/Rubik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ubik-italic.fntdata"/><Relationship Id="rId25" Type="http://schemas.openxmlformats.org/officeDocument/2006/relationships/font" Target="fonts/Rubik-bold.fntdata"/><Relationship Id="rId28" Type="http://schemas.openxmlformats.org/officeDocument/2006/relationships/font" Target="fonts/RubikSemiBold-regular.fntdata"/><Relationship Id="rId27" Type="http://schemas.openxmlformats.org/officeDocument/2006/relationships/font" Target="fonts/Rubik-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SemiBold-boldItalic.fntdata"/><Relationship Id="rId30" Type="http://schemas.openxmlformats.org/officeDocument/2006/relationships/font" Target="fonts/Rubik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ubikMedium-bold.fntdata"/><Relationship Id="rId16" Type="http://schemas.openxmlformats.org/officeDocument/2006/relationships/font" Target="fonts/RubikMedium-regular.fntdata"/><Relationship Id="rId19" Type="http://schemas.openxmlformats.org/officeDocument/2006/relationships/font" Target="fonts/RubikMedium-boldItalic.fntdata"/><Relationship Id="rId18" Type="http://schemas.openxmlformats.org/officeDocument/2006/relationships/font" Target="fonts/Rubik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5ee86830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265ee86830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52599536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e52599536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3ec2985a6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23ec2985a68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3ec2985a6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23ec2985a68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3ec2985a6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3ec2985a6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3ec2985a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3ec2985a68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hyperlink" Target="https://drive.google.com/drive/folders/11gW5VXjkOORIeHGm38COkmRolIohB5C3?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hyperlink" Target="https://console.cloud.google.com/bigquery?ws=!1m7!1m6!12m5!1m3!1svalued-context-497313-b9!2sus-central1!3sec6ab5b8-a741-4d77-bc6a-bbd20d47e7be!2e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datastudio.google.com/reporting/c17295e6-a34a-46a0-8b58-68398de354c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55" name="Google Shape;55;p13"/>
          <p:cNvPicPr preferRelativeResize="0"/>
          <p:nvPr/>
        </p:nvPicPr>
        <p:blipFill rotWithShape="1">
          <a:blip r:embed="rId4">
            <a:alphaModFix/>
          </a:blip>
          <a:srcRect b="0" l="0" r="0" t="0"/>
          <a:stretch/>
        </p:blipFill>
        <p:spPr>
          <a:xfrm>
            <a:off x="349800" y="186500"/>
            <a:ext cx="1399901" cy="541300"/>
          </a:xfrm>
          <a:prstGeom prst="rect">
            <a:avLst/>
          </a:prstGeom>
          <a:noFill/>
          <a:ln>
            <a:noFill/>
          </a:ln>
        </p:spPr>
      </p:pic>
      <p:sp>
        <p:nvSpPr>
          <p:cNvPr id="56" name="Google Shape;56;p13"/>
          <p:cNvSpPr txBox="1"/>
          <p:nvPr/>
        </p:nvSpPr>
        <p:spPr>
          <a:xfrm>
            <a:off x="517900" y="1596200"/>
            <a:ext cx="6239100" cy="1231500"/>
          </a:xfrm>
          <a:prstGeom prst="rect">
            <a:avLst/>
          </a:prstGeom>
          <a:noFill/>
          <a:ln>
            <a:noFill/>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lang="en" sz="3400">
                <a:solidFill>
                  <a:schemeClr val="lt1"/>
                </a:solidFill>
                <a:latin typeface="Rubik"/>
                <a:ea typeface="Rubik"/>
                <a:cs typeface="Rubik"/>
                <a:sym typeface="Rubik"/>
              </a:rPr>
              <a:t>Analisis Kinerja Bisnis Kimia Farma Tahun 2020-2023</a:t>
            </a:r>
            <a:endParaRPr b="0" i="0" sz="900" u="none" cap="none" strike="noStrike">
              <a:solidFill>
                <a:schemeClr val="lt1"/>
              </a:solidFill>
              <a:latin typeface="Rubik"/>
              <a:ea typeface="Rubik"/>
              <a:cs typeface="Rubik"/>
              <a:sym typeface="Rubik"/>
            </a:endParaRPr>
          </a:p>
        </p:txBody>
      </p:sp>
      <p:sp>
        <p:nvSpPr>
          <p:cNvPr id="57" name="Google Shape;57;p13"/>
          <p:cNvSpPr txBox="1"/>
          <p:nvPr/>
        </p:nvSpPr>
        <p:spPr>
          <a:xfrm>
            <a:off x="517900" y="3130300"/>
            <a:ext cx="7289100" cy="569400"/>
          </a:xfrm>
          <a:prstGeom prst="rect">
            <a:avLst/>
          </a:prstGeom>
          <a:noFill/>
          <a:ln>
            <a:noFill/>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Rubik SemiBold"/>
                <a:ea typeface="Rubik SemiBold"/>
                <a:cs typeface="Rubik SemiBold"/>
                <a:sym typeface="Rubik SemiBold"/>
              </a:rPr>
              <a:t>Kimia Farma - Big Data Analytics</a:t>
            </a:r>
            <a:endParaRPr b="0" i="0" sz="2500" u="none" cap="none" strike="noStrike">
              <a:solidFill>
                <a:schemeClr val="lt1"/>
              </a:solidFill>
              <a:latin typeface="Rubik SemiBold"/>
              <a:ea typeface="Rubik SemiBold"/>
              <a:cs typeface="Rubik SemiBold"/>
              <a:sym typeface="Rubik SemiBold"/>
            </a:endParaRPr>
          </a:p>
        </p:txBody>
      </p:sp>
      <p:sp>
        <p:nvSpPr>
          <p:cNvPr id="58" name="Google Shape;58;p13"/>
          <p:cNvSpPr/>
          <p:nvPr/>
        </p:nvSpPr>
        <p:spPr>
          <a:xfrm>
            <a:off x="6757125" y="-621925"/>
            <a:ext cx="3135000" cy="30510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3"/>
          <p:cNvSpPr txBox="1"/>
          <p:nvPr/>
        </p:nvSpPr>
        <p:spPr>
          <a:xfrm>
            <a:off x="1769125" y="172450"/>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60" name="Google Shape;60;p13"/>
          <p:cNvSpPr txBox="1"/>
          <p:nvPr/>
        </p:nvSpPr>
        <p:spPr>
          <a:xfrm>
            <a:off x="517900" y="3699700"/>
            <a:ext cx="4392000" cy="954300"/>
          </a:xfrm>
          <a:prstGeom prst="rect">
            <a:avLst/>
          </a:prstGeom>
          <a:noFill/>
          <a:ln>
            <a:noFill/>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Rubik Light"/>
                <a:ea typeface="Rubik Light"/>
                <a:cs typeface="Rubik Light"/>
                <a:sym typeface="Rubik Light"/>
              </a:rPr>
              <a:t>Presented by</a:t>
            </a:r>
            <a:endParaRPr b="0" i="0" sz="2000" u="none" cap="none" strike="noStrike">
              <a:solidFill>
                <a:schemeClr val="lt1"/>
              </a:solidFill>
              <a:latin typeface="Rubik Light"/>
              <a:ea typeface="Rubik Light"/>
              <a:cs typeface="Rubik Light"/>
              <a:sym typeface="Rubik Light"/>
            </a:endParaRPr>
          </a:p>
          <a:p>
            <a:pPr indent="0" lvl="0" marL="0" marR="0" rtl="0" algn="l">
              <a:lnSpc>
                <a:spcPct val="100000"/>
              </a:lnSpc>
              <a:spcBef>
                <a:spcPts val="0"/>
              </a:spcBef>
              <a:spcAft>
                <a:spcPts val="0"/>
              </a:spcAft>
              <a:buClr>
                <a:srgbClr val="000000"/>
              </a:buClr>
              <a:buSzPts val="2000"/>
              <a:buFont typeface="Arial"/>
              <a:buNone/>
            </a:pPr>
            <a:r>
              <a:rPr lang="en" sz="3000">
                <a:solidFill>
                  <a:schemeClr val="lt1"/>
                </a:solidFill>
                <a:latin typeface="Rubik Light"/>
                <a:ea typeface="Rubik Light"/>
                <a:cs typeface="Rubik Light"/>
                <a:sym typeface="Rubik Light"/>
              </a:rPr>
              <a:t>Rafika Humairah</a:t>
            </a:r>
            <a:endParaRPr b="0" i="0" sz="3000" u="none" cap="none" strike="noStrike">
              <a:solidFill>
                <a:schemeClr val="lt1"/>
              </a:solidFill>
              <a:latin typeface="Rubik Light"/>
              <a:ea typeface="Rubik Light"/>
              <a:cs typeface="Rubik Light"/>
              <a:sym typeface="Rubik Light"/>
            </a:endParaRPr>
          </a:p>
        </p:txBody>
      </p:sp>
      <p:pic>
        <p:nvPicPr>
          <p:cNvPr id="61" name="Google Shape;61;p13"/>
          <p:cNvPicPr preferRelativeResize="0"/>
          <p:nvPr/>
        </p:nvPicPr>
        <p:blipFill rotWithShape="1">
          <a:blip r:embed="rId5">
            <a:alphaModFix/>
          </a:blip>
          <a:srcRect b="0" l="0" r="0" t="0"/>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67" name="Google Shape;67;p14"/>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68" name="Google Shape;68;p14"/>
          <p:cNvSpPr/>
          <p:nvPr/>
        </p:nvSpPr>
        <p:spPr>
          <a:xfrm>
            <a:off x="0" y="0"/>
            <a:ext cx="4572000" cy="5143500"/>
          </a:xfrm>
          <a:prstGeom prst="rect">
            <a:avLst/>
          </a:prstGeom>
          <a:solidFill>
            <a:srgbClr val="019FAB">
              <a:alpha val="4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4"/>
          <p:cNvSpPr txBox="1"/>
          <p:nvPr/>
        </p:nvSpPr>
        <p:spPr>
          <a:xfrm>
            <a:off x="4867250" y="959175"/>
            <a:ext cx="3504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latin typeface="Rubik SemiBold"/>
                <a:ea typeface="Rubik SemiBold"/>
                <a:cs typeface="Rubik SemiBold"/>
                <a:sym typeface="Rubik SemiBold"/>
              </a:rPr>
              <a:t>Rafika Humairah</a:t>
            </a:r>
            <a:endParaRPr b="0" i="0" sz="2000" u="none" cap="none" strike="noStrike">
              <a:solidFill>
                <a:srgbClr val="000000"/>
              </a:solidFill>
              <a:latin typeface="Rubik SemiBold"/>
              <a:ea typeface="Rubik SemiBold"/>
              <a:cs typeface="Rubik SemiBold"/>
              <a:sym typeface="Rubik SemiBold"/>
            </a:endParaRPr>
          </a:p>
        </p:txBody>
      </p:sp>
      <p:sp>
        <p:nvSpPr>
          <p:cNvPr id="70" name="Google Shape;70;p14"/>
          <p:cNvSpPr txBox="1"/>
          <p:nvPr/>
        </p:nvSpPr>
        <p:spPr>
          <a:xfrm>
            <a:off x="4867250" y="1604175"/>
            <a:ext cx="3504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019FAB"/>
                </a:solidFill>
                <a:latin typeface="Rubik SemiBold"/>
                <a:ea typeface="Rubik SemiBold"/>
                <a:cs typeface="Rubik SemiBold"/>
                <a:sym typeface="Rubik SemiBold"/>
              </a:rPr>
              <a:t>Analisis Kinerja Bisnis Kimia Farma Tahun 2020-2023</a:t>
            </a:r>
            <a:endParaRPr b="0" i="0" sz="2000" u="none" cap="none" strike="noStrike">
              <a:solidFill>
                <a:srgbClr val="019FAB"/>
              </a:solidFill>
              <a:latin typeface="Rubik SemiBold"/>
              <a:ea typeface="Rubik SemiBold"/>
              <a:cs typeface="Rubik SemiBold"/>
              <a:sym typeface="Rubik SemiBold"/>
            </a:endParaRPr>
          </a:p>
        </p:txBody>
      </p:sp>
      <p:sp>
        <p:nvSpPr>
          <p:cNvPr id="71" name="Google Shape;71;p14"/>
          <p:cNvSpPr txBox="1"/>
          <p:nvPr/>
        </p:nvSpPr>
        <p:spPr>
          <a:xfrm>
            <a:off x="4867250" y="2712375"/>
            <a:ext cx="3999900" cy="2185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000">
                <a:latin typeface="Rubik Medium"/>
                <a:ea typeface="Rubik Medium"/>
                <a:cs typeface="Rubik Medium"/>
                <a:sym typeface="Rubik Medium"/>
              </a:rPr>
              <a:t>Fresh graduate Matematika Universitas Andalas dengan ketertarikan kuat pada bidang data analysis dan siap berkontribusi sebagai Data Analyst atau Data Science. Menguasai pengolahan dan analisis data menggunakan Excel, SQL, dan Python, serta terbiasa mengolah dataset untuk menghasilkan insight yang relevan. Berkontribusi dalam proyek dengan pendekatan berbasis data. Memiliki kemampuan analitis yang kuat, teliti, cepat belajar, dan mampu bekerja secara kolaboratif</a:t>
            </a:r>
            <a:endParaRPr b="0" i="0" sz="700" u="none" cap="none" strike="noStrike">
              <a:solidFill>
                <a:srgbClr val="000000"/>
              </a:solidFill>
              <a:latin typeface="Rubik Medium"/>
              <a:ea typeface="Rubik Medium"/>
              <a:cs typeface="Rubik Medium"/>
              <a:sym typeface="Rubik Medium"/>
            </a:endParaRPr>
          </a:p>
        </p:txBody>
      </p:sp>
      <p:sp>
        <p:nvSpPr>
          <p:cNvPr id="72" name="Google Shape;72;p14"/>
          <p:cNvSpPr txBox="1"/>
          <p:nvPr/>
        </p:nvSpPr>
        <p:spPr>
          <a:xfrm>
            <a:off x="1004800" y="3928325"/>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Agam, Sumatera Barat</a:t>
            </a:r>
            <a:endParaRPr b="0" i="0" sz="1200" u="none" cap="none" strike="noStrike">
              <a:solidFill>
                <a:srgbClr val="000000"/>
              </a:solidFill>
              <a:latin typeface="Rubik Medium"/>
              <a:ea typeface="Rubik Medium"/>
              <a:cs typeface="Rubik Medium"/>
              <a:sym typeface="Rubik Medium"/>
            </a:endParaRPr>
          </a:p>
        </p:txBody>
      </p:sp>
      <p:pic>
        <p:nvPicPr>
          <p:cNvPr id="73" name="Google Shape;73;p14"/>
          <p:cNvPicPr preferRelativeResize="0"/>
          <p:nvPr/>
        </p:nvPicPr>
        <p:blipFill rotWithShape="1">
          <a:blip r:embed="rId5">
            <a:alphaModFix/>
          </a:blip>
          <a:srcRect b="0" l="0" r="0" t="0"/>
          <a:stretch/>
        </p:blipFill>
        <p:spPr>
          <a:xfrm>
            <a:off x="510750" y="4774200"/>
            <a:ext cx="369300" cy="369300"/>
          </a:xfrm>
          <a:prstGeom prst="rect">
            <a:avLst/>
          </a:prstGeom>
          <a:noFill/>
          <a:ln>
            <a:noFill/>
          </a:ln>
        </p:spPr>
      </p:pic>
      <p:pic>
        <p:nvPicPr>
          <p:cNvPr id="74" name="Google Shape;74;p14"/>
          <p:cNvPicPr preferRelativeResize="0"/>
          <p:nvPr/>
        </p:nvPicPr>
        <p:blipFill rotWithShape="1">
          <a:blip r:embed="rId6">
            <a:alphaModFix/>
          </a:blip>
          <a:srcRect b="0" l="0" r="0" t="0"/>
          <a:stretch/>
        </p:blipFill>
        <p:spPr>
          <a:xfrm>
            <a:off x="495300" y="3912875"/>
            <a:ext cx="400201" cy="400201"/>
          </a:xfrm>
          <a:prstGeom prst="rect">
            <a:avLst/>
          </a:prstGeom>
          <a:noFill/>
          <a:ln>
            <a:noFill/>
          </a:ln>
        </p:spPr>
      </p:pic>
      <p:pic>
        <p:nvPicPr>
          <p:cNvPr id="75" name="Google Shape;75;p14"/>
          <p:cNvPicPr preferRelativeResize="0"/>
          <p:nvPr/>
        </p:nvPicPr>
        <p:blipFill rotWithShape="1">
          <a:blip r:embed="rId7">
            <a:alphaModFix/>
          </a:blip>
          <a:srcRect b="0" l="0" r="0" t="0"/>
          <a:stretch/>
        </p:blipFill>
        <p:spPr>
          <a:xfrm>
            <a:off x="504096" y="4411877"/>
            <a:ext cx="369300" cy="263511"/>
          </a:xfrm>
          <a:prstGeom prst="rect">
            <a:avLst/>
          </a:prstGeom>
          <a:noFill/>
          <a:ln>
            <a:noFill/>
          </a:ln>
        </p:spPr>
      </p:pic>
      <p:sp>
        <p:nvSpPr>
          <p:cNvPr id="76" name="Google Shape;76;p14"/>
          <p:cNvSpPr txBox="1"/>
          <p:nvPr/>
        </p:nvSpPr>
        <p:spPr>
          <a:xfrm>
            <a:off x="1004800" y="4750550"/>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Rafika Humairah</a:t>
            </a:r>
            <a:endParaRPr b="0" i="0" sz="1200" u="none" cap="none" strike="noStrike">
              <a:solidFill>
                <a:srgbClr val="000000"/>
              </a:solidFill>
              <a:latin typeface="Rubik Medium"/>
              <a:ea typeface="Rubik Medium"/>
              <a:cs typeface="Rubik Medium"/>
              <a:sym typeface="Rubik Medium"/>
            </a:endParaRPr>
          </a:p>
        </p:txBody>
      </p:sp>
      <p:sp>
        <p:nvSpPr>
          <p:cNvPr id="77" name="Google Shape;77;p14"/>
          <p:cNvSpPr txBox="1"/>
          <p:nvPr/>
        </p:nvSpPr>
        <p:spPr>
          <a:xfrm>
            <a:off x="1004800" y="4358988"/>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rafikahumaira28@gmail.com</a:t>
            </a:r>
            <a:endParaRPr b="0" i="0" sz="1200" u="none" cap="none" strike="noStrike">
              <a:solidFill>
                <a:srgbClr val="000000"/>
              </a:solidFill>
              <a:latin typeface="Rubik Medium"/>
              <a:ea typeface="Rubik Medium"/>
              <a:cs typeface="Rubik Medium"/>
              <a:sym typeface="Rubik Medium"/>
            </a:endParaRPr>
          </a:p>
        </p:txBody>
      </p:sp>
      <p:pic>
        <p:nvPicPr>
          <p:cNvPr id="78" name="Google Shape;78;p14" title="WhatsApp Image 2025-10-02 at 14.15.19.jpeg"/>
          <p:cNvPicPr preferRelativeResize="0"/>
          <p:nvPr/>
        </p:nvPicPr>
        <p:blipFill>
          <a:blip r:embed="rId8">
            <a:alphaModFix/>
          </a:blip>
          <a:stretch>
            <a:fillRect/>
          </a:stretch>
        </p:blipFill>
        <p:spPr>
          <a:xfrm>
            <a:off x="1045148" y="443986"/>
            <a:ext cx="2260582" cy="3396176"/>
          </a:xfrm>
          <a:prstGeom prst="rect">
            <a:avLst/>
          </a:prstGeom>
          <a:solidFill>
            <a:schemeClr val="accent4"/>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5"/>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4" name="Google Shape;84;p15"/>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85" name="Google Shape;85;p15"/>
          <p:cNvSpPr txBox="1"/>
          <p:nvPr/>
        </p:nvSpPr>
        <p:spPr>
          <a:xfrm>
            <a:off x="340500" y="1456575"/>
            <a:ext cx="5015100" cy="3186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lang="en" sz="1500">
                <a:solidFill>
                  <a:schemeClr val="dk1"/>
                </a:solidFill>
                <a:latin typeface="Rubik"/>
                <a:ea typeface="Rubik"/>
                <a:cs typeface="Rubik"/>
                <a:sym typeface="Rubik"/>
              </a:rPr>
              <a:t>Kimia Farma adalah perusahaan industri farmasi pertama di Indonesia yang didirikan oleh Pemerintah Hindia Belanda tahun 1817. Nama perusahaan ini pada awalnya adalah NV Chemicalien Handle Rathkamp &amp; Co. Berdasarkan kebijaksanaan nasionalisasi atas eks perusahaan Belanda di masa awal kemerdekaan, pada tahun 1958, Pemerintah Republik Indonesia melakukan peleburan sejumlah perusahaan farmasi menjadi PNF (Perusahaan Negara Farmasi) Bhinneka Kimia Farma. Kemudian pada tanggal 16 Agustus 1971, bentuk badan hukum PNF diubah menjadi Perseroan Terbatas, sehingga nama perusahaan berubah menjadi PT Kimia Farma</a:t>
            </a:r>
            <a:r>
              <a:rPr lang="en" sz="1100">
                <a:solidFill>
                  <a:schemeClr val="dk1"/>
                </a:solidFill>
                <a:latin typeface="Rubik"/>
                <a:ea typeface="Rubik"/>
                <a:cs typeface="Rubik"/>
                <a:sym typeface="Rubik"/>
              </a:rPr>
              <a:t>.</a:t>
            </a:r>
            <a:endParaRPr i="0" sz="1100" u="none" cap="none" strike="noStrike">
              <a:solidFill>
                <a:srgbClr val="000000"/>
              </a:solidFill>
              <a:latin typeface="Rubik"/>
              <a:ea typeface="Rubik"/>
              <a:cs typeface="Rubik"/>
              <a:sym typeface="Rubik"/>
            </a:endParaRPr>
          </a:p>
        </p:txBody>
      </p:sp>
      <p:sp>
        <p:nvSpPr>
          <p:cNvPr id="86" name="Google Shape;86;p15"/>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About </a:t>
            </a:r>
            <a:r>
              <a:rPr b="1" i="0" lang="en" sz="3000" u="none" cap="none" strike="noStrike">
                <a:solidFill>
                  <a:schemeClr val="accent5"/>
                </a:solidFill>
                <a:latin typeface="Rubik"/>
                <a:ea typeface="Rubik"/>
                <a:cs typeface="Rubik"/>
                <a:sym typeface="Rubik"/>
              </a:rPr>
              <a:t>Company</a:t>
            </a:r>
            <a:endParaRPr b="1" i="0" sz="3000" u="none" cap="none" strike="noStrike">
              <a:solidFill>
                <a:schemeClr val="accent5"/>
              </a:solidFill>
              <a:latin typeface="Rubik"/>
              <a:ea typeface="Rubik"/>
              <a:cs typeface="Rubik"/>
              <a:sym typeface="Rubik"/>
            </a:endParaRPr>
          </a:p>
        </p:txBody>
      </p:sp>
      <p:pic>
        <p:nvPicPr>
          <p:cNvPr id="87" name="Google Shape;87;p15"/>
          <p:cNvPicPr preferRelativeResize="0"/>
          <p:nvPr/>
        </p:nvPicPr>
        <p:blipFill rotWithShape="1">
          <a:blip r:embed="rId5">
            <a:alphaModFix/>
          </a:blip>
          <a:srcRect b="0" l="0" r="0" t="0"/>
          <a:stretch/>
        </p:blipFill>
        <p:spPr>
          <a:xfrm>
            <a:off x="5499250" y="1456568"/>
            <a:ext cx="3104925" cy="111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93" name="Google Shape;93;p1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4" name="Google Shape;94;p16"/>
          <p:cNvSpPr txBox="1"/>
          <p:nvPr/>
        </p:nvSpPr>
        <p:spPr>
          <a:xfrm>
            <a:off x="340500" y="1406350"/>
            <a:ext cx="8340300" cy="2308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Sebagai seorang Big Data Analytics Intern di Kimia Farma, tugas saya melakukan analisis data penjualan Kimia Farma periode 2020–2023 menggunakan BigQuery SQL dan Looker Studio untuk mengevaluasi performa bisnis perusahaan. Proyek dimulai dengan proses import dan pengelolaan dataset transaksi, produk, inventory, dan kantor cabang ke Google BigQuery. </a:t>
            </a:r>
            <a:r>
              <a:rPr lang="en" sz="1200">
                <a:solidFill>
                  <a:schemeClr val="dk1"/>
                </a:solidFill>
                <a:latin typeface="Rubik"/>
                <a:ea typeface="Rubik"/>
                <a:cs typeface="Rubik"/>
                <a:sym typeface="Rubik"/>
              </a:rPr>
              <a:t>Selanjutnya dilakukan data processing dan pembuatan tabel analisa menggunakan SQL dengan teknik JOIN antar tabel, agregasi data, serta pembuatan calculated columns. Selain itu, saya membuat dashboard interaktif di Looker Studio untuk memvisualisasikan performa bisnis Kimia Farma berdasarkan pendapatan, profit, performa cabang, rating transaksi, dan analisis penjualan per provinsi.</a:t>
            </a:r>
            <a:endParaRPr sz="1200">
              <a:solidFill>
                <a:schemeClr val="dk1"/>
              </a:solidFill>
              <a:latin typeface="Rubik"/>
              <a:ea typeface="Rubik"/>
              <a:cs typeface="Rubik"/>
              <a:sym typeface="Rubik"/>
            </a:endParaRPr>
          </a:p>
          <a:p>
            <a:pPr indent="0" lvl="0" marL="0" marR="0" rtl="0" algn="just">
              <a:lnSpc>
                <a:spcPct val="150000"/>
              </a:lnSpc>
              <a:spcBef>
                <a:spcPts val="0"/>
              </a:spcBef>
              <a:spcAft>
                <a:spcPts val="0"/>
              </a:spcAft>
              <a:buClr>
                <a:schemeClr val="dk1"/>
              </a:buClr>
              <a:buSzPts val="1100"/>
              <a:buFont typeface="Arial"/>
              <a:buNone/>
            </a:pPr>
            <a:r>
              <a:t/>
            </a:r>
            <a:endParaRPr sz="1200">
              <a:latin typeface="Rubik"/>
              <a:ea typeface="Rubik"/>
              <a:cs typeface="Rubik"/>
              <a:sym typeface="Rubik"/>
            </a:endParaRPr>
          </a:p>
        </p:txBody>
      </p:sp>
      <p:sp>
        <p:nvSpPr>
          <p:cNvPr id="95" name="Google Shape;95;p16"/>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
        <p:nvSpPr>
          <p:cNvPr id="96" name="Google Shape;96;p16"/>
          <p:cNvSpPr txBox="1"/>
          <p:nvPr/>
        </p:nvSpPr>
        <p:spPr>
          <a:xfrm>
            <a:off x="6054900" y="4058325"/>
            <a:ext cx="30891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b="1" i="0" lang="en" sz="1200" u="none" cap="none" strike="noStrike">
                <a:solidFill>
                  <a:srgbClr val="000000"/>
                </a:solidFill>
                <a:latin typeface="Rubik"/>
                <a:ea typeface="Rubik"/>
                <a:cs typeface="Rubik"/>
                <a:sym typeface="Rubik"/>
              </a:rPr>
              <a:t>Project explanation video </a:t>
            </a:r>
            <a:r>
              <a:rPr b="1" i="0" lang="en" sz="1200" u="sng" cap="none" strike="noStrike">
                <a:solidFill>
                  <a:schemeClr val="hlink"/>
                </a:solidFill>
                <a:latin typeface="Rubik"/>
                <a:ea typeface="Rubik"/>
                <a:cs typeface="Rubik"/>
                <a:sym typeface="Rubik"/>
                <a:hlinkClick r:id="rId5"/>
              </a:rPr>
              <a:t>here!</a:t>
            </a:r>
            <a:endParaRPr b="1" i="0" sz="1200" u="none" cap="none" strike="noStrike">
              <a:solidFill>
                <a:srgbClr val="000000"/>
              </a:solidFill>
              <a:latin typeface="Rubik"/>
              <a:ea typeface="Rubik"/>
              <a:cs typeface="Rubik"/>
              <a:sym typeface="Rubik"/>
            </a:endParaRPr>
          </a:p>
          <a:p>
            <a:pPr indent="0" lvl="0" marL="0" marR="0" rtl="0" algn="just">
              <a:lnSpc>
                <a:spcPct val="150000"/>
              </a:lnSpc>
              <a:spcBef>
                <a:spcPts val="0"/>
              </a:spcBef>
              <a:spcAft>
                <a:spcPts val="0"/>
              </a:spcAft>
              <a:buClr>
                <a:schemeClr val="dk1"/>
              </a:buClr>
              <a:buSzPts val="1100"/>
              <a:buFont typeface="Arial"/>
              <a:buNone/>
            </a:pPr>
            <a:r>
              <a:t/>
            </a:r>
            <a:endParaRPr b="1" i="1" sz="1000" u="none" cap="none" strike="noStrike">
              <a:solidFill>
                <a:srgbClr val="000000"/>
              </a:solidFill>
              <a:latin typeface="Rubik"/>
              <a:ea typeface="Rubik"/>
              <a:cs typeface="Rubik"/>
              <a:sym typeface="Rubi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7"/>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02" name="Google Shape;102;p17"/>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03" name="Google Shape;103;p17"/>
          <p:cNvSpPr txBox="1"/>
          <p:nvPr/>
        </p:nvSpPr>
        <p:spPr>
          <a:xfrm>
            <a:off x="340500" y="1406350"/>
            <a:ext cx="8340300"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Rumusan Masalah:</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AutoNum type="arabicPeriod"/>
            </a:pPr>
            <a:r>
              <a:rPr lang="en" sz="1200">
                <a:latin typeface="Rubik"/>
                <a:ea typeface="Rubik"/>
                <a:cs typeface="Rubik"/>
                <a:sym typeface="Rubik"/>
              </a:rPr>
              <a:t>Bagaimana perbandingan pendapatan Kimia Farma dari tahun ke tahun?</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AutoNum type="arabicPeriod"/>
            </a:pPr>
            <a:r>
              <a:rPr lang="en" sz="1200">
                <a:latin typeface="Rubik"/>
                <a:ea typeface="Rubik"/>
                <a:cs typeface="Rubik"/>
                <a:sym typeface="Rubik"/>
              </a:rPr>
              <a:t>Apa saja top 10 total transaksi cabang provinsi?</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AutoNum type="arabicPeriod"/>
            </a:pPr>
            <a:r>
              <a:rPr lang="en" sz="1200">
                <a:latin typeface="Rubik"/>
                <a:ea typeface="Rubik"/>
                <a:cs typeface="Rubik"/>
                <a:sym typeface="Rubik"/>
              </a:rPr>
              <a:t>Apa saja top 10 Nett Sales cabang provinsi?</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AutoNum type="arabicPeriod"/>
            </a:pPr>
            <a:r>
              <a:rPr lang="en" sz="1200">
                <a:latin typeface="Rubik"/>
                <a:ea typeface="Rubik"/>
                <a:cs typeface="Rubik"/>
                <a:sym typeface="Rubik"/>
              </a:rPr>
              <a:t>Cabang apa dengan rating tertinggi , namun rating transaksi terendah?</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AutoNum type="arabicPeriod"/>
            </a:pPr>
            <a:r>
              <a:rPr lang="en" sz="1200">
                <a:latin typeface="Rubik"/>
                <a:ea typeface="Rubik"/>
                <a:cs typeface="Rubik"/>
                <a:sym typeface="Rubik"/>
              </a:rPr>
              <a:t>Bagaimana tampilan Indonesia Geo’s Map untuk total profit per provinsi?</a:t>
            </a:r>
            <a:endParaRPr sz="1200">
              <a:latin typeface="Rubik"/>
              <a:ea typeface="Rubik"/>
              <a:cs typeface="Rubik"/>
              <a:sym typeface="Rubik"/>
            </a:endParaRPr>
          </a:p>
          <a:p>
            <a:pPr indent="0" lvl="0" marL="0" marR="0" rtl="0" algn="just">
              <a:lnSpc>
                <a:spcPct val="150000"/>
              </a:lnSpc>
              <a:spcBef>
                <a:spcPts val="0"/>
              </a:spcBef>
              <a:spcAft>
                <a:spcPts val="0"/>
              </a:spcAft>
              <a:buNone/>
            </a:pPr>
            <a:r>
              <a:t/>
            </a:r>
            <a:endParaRPr sz="1200">
              <a:latin typeface="Rubik"/>
              <a:ea typeface="Rubik"/>
              <a:cs typeface="Rubik"/>
              <a:sym typeface="Rubik"/>
            </a:endParaRPr>
          </a:p>
        </p:txBody>
      </p:sp>
      <p:sp>
        <p:nvSpPr>
          <p:cNvPr id="104" name="Google Shape;104;p17"/>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0" name="Google Shape;110;p18"/>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11" name="Google Shape;111;p18"/>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a:pPr>
            <a:r>
              <a:rPr b="1" i="0" lang="en" sz="2700" u="none" cap="none" strike="noStrike">
                <a:solidFill>
                  <a:srgbClr val="000000"/>
                </a:solidFill>
                <a:latin typeface="Rubik"/>
                <a:ea typeface="Rubik"/>
                <a:cs typeface="Rubik"/>
                <a:sym typeface="Rubik"/>
              </a:rPr>
              <a:t>Importing Dataset to BigQuery</a:t>
            </a:r>
            <a:endParaRPr b="1" i="0" sz="2700" u="none" cap="none" strike="noStrike">
              <a:solidFill>
                <a:srgbClr val="000000"/>
              </a:solidFill>
              <a:latin typeface="Rubik"/>
              <a:ea typeface="Rubik"/>
              <a:cs typeface="Rubik"/>
              <a:sym typeface="Rubik"/>
            </a:endParaRPr>
          </a:p>
        </p:txBody>
      </p:sp>
      <p:sp>
        <p:nvSpPr>
          <p:cNvPr id="112" name="Google Shape;112;p18"/>
          <p:cNvSpPr txBox="1"/>
          <p:nvPr/>
        </p:nvSpPr>
        <p:spPr>
          <a:xfrm>
            <a:off x="340500" y="1052350"/>
            <a:ext cx="3288000" cy="34017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rgbClr val="000000"/>
              </a:buClr>
              <a:buSzPts val="1100"/>
              <a:buFont typeface="Rubik"/>
              <a:buChar char="●"/>
            </a:pPr>
            <a:r>
              <a:rPr lang="en" sz="1100">
                <a:latin typeface="Rubik"/>
                <a:ea typeface="Rubik"/>
                <a:cs typeface="Rubik"/>
                <a:sym typeface="Rubik"/>
              </a:rPr>
              <a:t>Buat proyek baru dengan nama </a:t>
            </a:r>
            <a:r>
              <a:rPr b="1" lang="en" sz="1100">
                <a:latin typeface="Rubik"/>
                <a:ea typeface="Rubik"/>
                <a:cs typeface="Rubik"/>
                <a:sym typeface="Rubik"/>
              </a:rPr>
              <a:t>“Rakamin KF Analytics“</a:t>
            </a:r>
            <a:endParaRPr b="1" sz="1100">
              <a:latin typeface="Rubik"/>
              <a:ea typeface="Rubik"/>
              <a:cs typeface="Rubik"/>
              <a:sym typeface="Rubik"/>
            </a:endParaRPr>
          </a:p>
          <a:p>
            <a:pPr indent="-298450" lvl="0" marL="457200" marR="0" rtl="0" algn="l">
              <a:lnSpc>
                <a:spcPct val="150000"/>
              </a:lnSpc>
              <a:spcBef>
                <a:spcPts val="0"/>
              </a:spcBef>
              <a:spcAft>
                <a:spcPts val="0"/>
              </a:spcAft>
              <a:buSzPts val="1100"/>
              <a:buFont typeface="Rubik"/>
              <a:buChar char="●"/>
            </a:pPr>
            <a:r>
              <a:rPr lang="en" sz="1100">
                <a:latin typeface="Rubik"/>
                <a:ea typeface="Rubik"/>
                <a:cs typeface="Rubik"/>
                <a:sym typeface="Rubik"/>
              </a:rPr>
              <a:t>Buat dataset baru dengan nama </a:t>
            </a:r>
            <a:r>
              <a:rPr b="1" lang="en" sz="1100">
                <a:latin typeface="Rubik"/>
                <a:ea typeface="Rubik"/>
                <a:cs typeface="Rubik"/>
                <a:sym typeface="Rubik"/>
              </a:rPr>
              <a:t>“Kimia_Farma”</a:t>
            </a:r>
            <a:r>
              <a:rPr lang="en" sz="1100">
                <a:latin typeface="Rubik"/>
                <a:ea typeface="Rubik"/>
                <a:cs typeface="Rubik"/>
                <a:sym typeface="Rubik"/>
              </a:rPr>
              <a:t> di dalam proyek </a:t>
            </a:r>
            <a:r>
              <a:rPr b="1" lang="en" sz="1100">
                <a:latin typeface="Rubik"/>
                <a:ea typeface="Rubik"/>
                <a:cs typeface="Rubik"/>
                <a:sym typeface="Rubik"/>
              </a:rPr>
              <a:t>“Rakamin KF Analytics”</a:t>
            </a:r>
            <a:endParaRPr b="1" sz="1100">
              <a:latin typeface="Rubik"/>
              <a:ea typeface="Rubik"/>
              <a:cs typeface="Rubik"/>
              <a:sym typeface="Rubik"/>
            </a:endParaRPr>
          </a:p>
          <a:p>
            <a:pPr indent="-298450" lvl="0" marL="457200" marR="0" rtl="0" algn="l">
              <a:lnSpc>
                <a:spcPct val="150000"/>
              </a:lnSpc>
              <a:spcBef>
                <a:spcPts val="0"/>
              </a:spcBef>
              <a:spcAft>
                <a:spcPts val="0"/>
              </a:spcAft>
              <a:buSzPts val="1100"/>
              <a:buFont typeface="Rubik"/>
              <a:buChar char="●"/>
            </a:pPr>
            <a:r>
              <a:rPr lang="en" sz="1100">
                <a:latin typeface="Rubik"/>
                <a:ea typeface="Rubik"/>
                <a:cs typeface="Rubik"/>
                <a:sym typeface="Rubik"/>
              </a:rPr>
              <a:t>Import tabel ke dataset </a:t>
            </a:r>
            <a:r>
              <a:rPr b="1" lang="en" sz="1100">
                <a:latin typeface="Rubik"/>
                <a:ea typeface="Rubik"/>
                <a:cs typeface="Rubik"/>
                <a:sym typeface="Rubik"/>
              </a:rPr>
              <a:t>“Kimia_Farma” </a:t>
            </a:r>
            <a:r>
              <a:rPr lang="en" sz="1100">
                <a:latin typeface="Rubik"/>
                <a:ea typeface="Rubik"/>
                <a:cs typeface="Rubik"/>
                <a:sym typeface="Rubik"/>
              </a:rPr>
              <a:t>dengan mengunggah file </a:t>
            </a:r>
            <a:r>
              <a:rPr b="1" lang="en" sz="1100">
                <a:latin typeface="Rubik"/>
                <a:ea typeface="Rubik"/>
                <a:cs typeface="Rubik"/>
                <a:sym typeface="Rubik"/>
              </a:rPr>
              <a:t>“kf_final_transaction.csv” </a:t>
            </a:r>
            <a:r>
              <a:rPr lang="en" sz="1100">
                <a:latin typeface="Rubik"/>
                <a:ea typeface="Rubik"/>
                <a:cs typeface="Rubik"/>
                <a:sym typeface="Rubik"/>
              </a:rPr>
              <a:t>(samakan nama tabel dengan nama file tanpa .csv)</a:t>
            </a:r>
            <a:endParaRPr sz="1100">
              <a:latin typeface="Rubik"/>
              <a:ea typeface="Rubik"/>
              <a:cs typeface="Rubik"/>
              <a:sym typeface="Rubik"/>
            </a:endParaRPr>
          </a:p>
          <a:p>
            <a:pPr indent="-298450" lvl="0" marL="457200" marR="0" rtl="0" algn="l">
              <a:lnSpc>
                <a:spcPct val="150000"/>
              </a:lnSpc>
              <a:spcBef>
                <a:spcPts val="0"/>
              </a:spcBef>
              <a:spcAft>
                <a:spcPts val="0"/>
              </a:spcAft>
              <a:buSzPts val="1100"/>
              <a:buFont typeface="Rubik"/>
              <a:buChar char="●"/>
            </a:pPr>
            <a:r>
              <a:rPr lang="en" sz="1100">
                <a:latin typeface="Rubik"/>
                <a:ea typeface="Rubik"/>
                <a:cs typeface="Rubik"/>
                <a:sym typeface="Rubik"/>
              </a:rPr>
              <a:t>Lakukan hal yang sama pada </a:t>
            </a:r>
            <a:r>
              <a:rPr b="1" lang="en" sz="1100">
                <a:latin typeface="Rubik"/>
                <a:ea typeface="Rubik"/>
                <a:cs typeface="Rubik"/>
                <a:sym typeface="Rubik"/>
              </a:rPr>
              <a:t>“kf_inventory”, “kf_product” </a:t>
            </a:r>
            <a:r>
              <a:rPr lang="en" sz="1100">
                <a:latin typeface="Rubik"/>
                <a:ea typeface="Rubik"/>
                <a:cs typeface="Rubik"/>
                <a:sym typeface="Rubik"/>
              </a:rPr>
              <a:t> dan </a:t>
            </a:r>
            <a:r>
              <a:rPr b="1" lang="en" sz="1100">
                <a:latin typeface="Rubik"/>
                <a:ea typeface="Rubik"/>
                <a:cs typeface="Rubik"/>
                <a:sym typeface="Rubik"/>
              </a:rPr>
              <a:t>“kf_kantor_cabang”.</a:t>
            </a:r>
            <a:endParaRPr b="1" sz="1100">
              <a:latin typeface="Rubik"/>
              <a:ea typeface="Rubik"/>
              <a:cs typeface="Rubik"/>
              <a:sym typeface="Rubik"/>
            </a:endParaRPr>
          </a:p>
          <a:p>
            <a:pPr indent="-298450" lvl="0" marL="457200" marR="0" rtl="0" algn="l">
              <a:lnSpc>
                <a:spcPct val="150000"/>
              </a:lnSpc>
              <a:spcBef>
                <a:spcPts val="0"/>
              </a:spcBef>
              <a:spcAft>
                <a:spcPts val="0"/>
              </a:spcAft>
              <a:buSzPts val="1100"/>
              <a:buFont typeface="Rubik"/>
              <a:buChar char="●"/>
            </a:pPr>
            <a:r>
              <a:rPr lang="en" sz="1100">
                <a:latin typeface="Rubik"/>
                <a:ea typeface="Rubik"/>
                <a:cs typeface="Rubik"/>
                <a:sym typeface="Rubik"/>
              </a:rPr>
              <a:t>Buat </a:t>
            </a:r>
            <a:r>
              <a:rPr b="1" lang="en" sz="1100">
                <a:latin typeface="Rubik"/>
                <a:ea typeface="Rubik"/>
                <a:cs typeface="Rubik"/>
                <a:sym typeface="Rubik"/>
              </a:rPr>
              <a:t>“kf_tabel_analisa”</a:t>
            </a:r>
            <a:endParaRPr b="1" sz="1100">
              <a:latin typeface="Rubik"/>
              <a:ea typeface="Rubik"/>
              <a:cs typeface="Rubik"/>
              <a:sym typeface="Rubik"/>
            </a:endParaRPr>
          </a:p>
        </p:txBody>
      </p:sp>
      <p:pic>
        <p:nvPicPr>
          <p:cNvPr id="113" name="Google Shape;113;p18"/>
          <p:cNvPicPr preferRelativeResize="0"/>
          <p:nvPr/>
        </p:nvPicPr>
        <p:blipFill>
          <a:blip r:embed="rId5">
            <a:alphaModFix/>
          </a:blip>
          <a:stretch>
            <a:fillRect/>
          </a:stretch>
        </p:blipFill>
        <p:spPr>
          <a:xfrm>
            <a:off x="3628350" y="1165325"/>
            <a:ext cx="5319174" cy="3013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2"/>
            </a:pPr>
            <a:r>
              <a:rPr b="1" i="0" lang="en" sz="2700" u="none" cap="none" strike="noStrike">
                <a:solidFill>
                  <a:srgbClr val="000000"/>
                </a:solidFill>
                <a:latin typeface="Rubik"/>
                <a:ea typeface="Rubik"/>
                <a:cs typeface="Rubik"/>
                <a:sym typeface="Rubik"/>
              </a:rPr>
              <a:t>Tabel Analisa</a:t>
            </a:r>
            <a:endParaRPr b="1" i="0" sz="2700" u="none" cap="none" strike="noStrike">
              <a:solidFill>
                <a:srgbClr val="000000"/>
              </a:solidFill>
              <a:latin typeface="Rubik"/>
              <a:ea typeface="Rubik"/>
              <a:cs typeface="Rubik"/>
              <a:sym typeface="Rubik"/>
            </a:endParaRPr>
          </a:p>
        </p:txBody>
      </p:sp>
      <p:sp>
        <p:nvSpPr>
          <p:cNvPr id="121" name="Google Shape;121;p19"/>
          <p:cNvSpPr txBox="1"/>
          <p:nvPr/>
        </p:nvSpPr>
        <p:spPr>
          <a:xfrm>
            <a:off x="340500" y="1052350"/>
            <a:ext cx="4133400" cy="3232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Saya  membuat tabel analisa berdasarkan hasil agregasi dari ke-empat tabel yang sudah diimport sebelumnya. Berikut ini adalah kolom-kolom yang mandatory pada tabel tersebut:</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transaction_id : kode id transaksi,</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date : tanggal transaksi dilakukan,</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branch_id : kode id cabang Kimia Farma,</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branch_name : nama cabang Kimia Farma,</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kota : kota cabang Kimia Farma,</a:t>
            </a:r>
            <a:endParaRPr sz="900">
              <a:solidFill>
                <a:schemeClr val="dk1"/>
              </a:solidFill>
              <a:latin typeface="Rubik"/>
              <a:ea typeface="Rubik"/>
              <a:cs typeface="Rubik"/>
              <a:sym typeface="Rubik"/>
            </a:endParaRPr>
          </a:p>
          <a:p>
            <a:pPr indent="0" lvl="0" marL="0" marR="0" rtl="0" algn="l">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 provinsi : provinsi cabang Kimia Farma, </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rating_cabang : penilaian konsumen terhadap cabang Kimia Farma</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customer_name : Nama customer yang melakukan transaksi,</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product_id : kode product obat,</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product_name : nama obat,</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actual_price : harga obat,</a:t>
            </a:r>
            <a:endParaRPr sz="900">
              <a:solidFill>
                <a:schemeClr val="dk1"/>
              </a:solidFill>
              <a:latin typeface="Rubik"/>
              <a:ea typeface="Rubik"/>
              <a:cs typeface="Rubik"/>
              <a:sym typeface="Rubik"/>
            </a:endParaRPr>
          </a:p>
          <a:p>
            <a:pPr indent="0" lvl="0" marL="0" marR="0" rtl="0" algn="l">
              <a:lnSpc>
                <a:spcPct val="150000"/>
              </a:lnSpc>
              <a:spcBef>
                <a:spcPts val="0"/>
              </a:spcBef>
              <a:spcAft>
                <a:spcPts val="0"/>
              </a:spcAft>
              <a:buClr>
                <a:schemeClr val="dk1"/>
              </a:buClr>
              <a:buSzPts val="1400"/>
              <a:buFont typeface="Arial"/>
              <a:buNone/>
            </a:pPr>
            <a:r>
              <a:t/>
            </a:r>
            <a:endParaRPr sz="900">
              <a:solidFill>
                <a:schemeClr val="dk1"/>
              </a:solidFill>
              <a:latin typeface="Rubik"/>
              <a:ea typeface="Rubik"/>
              <a:cs typeface="Rubik"/>
              <a:sym typeface="Rubik"/>
            </a:endParaRPr>
          </a:p>
        </p:txBody>
      </p:sp>
      <p:sp>
        <p:nvSpPr>
          <p:cNvPr id="122" name="Google Shape;122;p19"/>
          <p:cNvSpPr txBox="1"/>
          <p:nvPr/>
        </p:nvSpPr>
        <p:spPr>
          <a:xfrm>
            <a:off x="4634500" y="1084950"/>
            <a:ext cx="4406700" cy="31611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discount_percentage : Persentase diskon yang diberikan pada obat,</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persentase_gross_laba : Persentase laba yang seharusnya diterima dari obat dengan ketentuan berikut:</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Harga &lt;= Rp 50.000 -&gt; laba 10%</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Harga &gt; Rp 50.000 - 100.000 -&gt; laba 15%</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Harga &gt; Rp 100.000 - 300.000 -&gt; laba 20%</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Harga &gt; Rp 300.000 - 500.000 -&gt; laba 25%</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Harga &gt; Rp 500.000 -&gt; laba 30%</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nett_sales : harga setelah diskon,</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latin typeface="Rubik"/>
                <a:ea typeface="Rubik"/>
                <a:cs typeface="Rubik"/>
                <a:sym typeface="Rubik"/>
              </a:rPr>
              <a:t>- nett_profit : keuntungan yang diperoleh Kimia Farma,</a:t>
            </a:r>
            <a:endParaRPr sz="9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 rating_transaksi : penilaian konsumen terhadap transaksi yang dilakukan.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0"/>
          <p:cNvPicPr preferRelativeResize="0"/>
          <p:nvPr/>
        </p:nvPicPr>
        <p:blipFill rotWithShape="1">
          <a:blip r:embed="rId3">
            <a:alphaModFix amt="10000"/>
          </a:blip>
          <a:srcRect b="0" l="0" r="0" t="0"/>
          <a:stretch/>
        </p:blipFill>
        <p:spPr>
          <a:xfrm>
            <a:off x="0" y="26789"/>
            <a:ext cx="9144001" cy="5143501"/>
          </a:xfrm>
          <a:prstGeom prst="rect">
            <a:avLst/>
          </a:prstGeom>
          <a:noFill/>
          <a:ln>
            <a:noFill/>
          </a:ln>
        </p:spPr>
      </p:pic>
      <p:pic>
        <p:nvPicPr>
          <p:cNvPr id="128" name="Google Shape;128;p20"/>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29" name="Google Shape;129;p20"/>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pic>
        <p:nvPicPr>
          <p:cNvPr id="130" name="Google Shape;130;p20"/>
          <p:cNvPicPr preferRelativeResize="0"/>
          <p:nvPr/>
        </p:nvPicPr>
        <p:blipFill>
          <a:blip r:embed="rId5">
            <a:alphaModFix/>
          </a:blip>
          <a:stretch>
            <a:fillRect/>
          </a:stretch>
        </p:blipFill>
        <p:spPr>
          <a:xfrm>
            <a:off x="434275" y="973600"/>
            <a:ext cx="5989002" cy="2616125"/>
          </a:xfrm>
          <a:prstGeom prst="rect">
            <a:avLst/>
          </a:prstGeom>
          <a:noFill/>
          <a:ln>
            <a:noFill/>
          </a:ln>
        </p:spPr>
      </p:pic>
      <p:sp>
        <p:nvSpPr>
          <p:cNvPr id="131" name="Google Shape;131;p20"/>
          <p:cNvSpPr txBox="1"/>
          <p:nvPr/>
        </p:nvSpPr>
        <p:spPr>
          <a:xfrm>
            <a:off x="434275" y="3897800"/>
            <a:ext cx="3469200" cy="7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Untuk Syntax lengkapnya dapat dilhat </a:t>
            </a:r>
            <a:r>
              <a:rPr lang="en" sz="1800" u="sng">
                <a:solidFill>
                  <a:schemeClr val="hlink"/>
                </a:solidFill>
                <a:hlinkClick r:id="rId6"/>
              </a:rPr>
              <a:t>disini</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37" name="Google Shape;137;p21"/>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8" name="Google Shape;138;p21"/>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4"/>
            </a:pPr>
            <a:r>
              <a:rPr b="1" i="0" lang="en" sz="2700" u="none" cap="none" strike="noStrike">
                <a:solidFill>
                  <a:srgbClr val="000000"/>
                </a:solidFill>
                <a:latin typeface="Rubik"/>
                <a:ea typeface="Rubik"/>
                <a:cs typeface="Rubik"/>
                <a:sym typeface="Rubik"/>
              </a:rPr>
              <a:t>Dashboard  Performance Analytics</a:t>
            </a:r>
            <a:endParaRPr b="1" i="0" sz="2700" u="none" cap="none" strike="noStrike">
              <a:solidFill>
                <a:srgbClr val="000000"/>
              </a:solidFill>
              <a:latin typeface="Rubik"/>
              <a:ea typeface="Rubik"/>
              <a:cs typeface="Rubik"/>
              <a:sym typeface="Rubik"/>
            </a:endParaRPr>
          </a:p>
        </p:txBody>
      </p:sp>
      <p:pic>
        <p:nvPicPr>
          <p:cNvPr id="139" name="Google Shape;139;p21"/>
          <p:cNvPicPr preferRelativeResize="0"/>
          <p:nvPr/>
        </p:nvPicPr>
        <p:blipFill>
          <a:blip r:embed="rId5">
            <a:alphaModFix/>
          </a:blip>
          <a:stretch>
            <a:fillRect/>
          </a:stretch>
        </p:blipFill>
        <p:spPr>
          <a:xfrm>
            <a:off x="340500" y="1052350"/>
            <a:ext cx="5727224" cy="3180250"/>
          </a:xfrm>
          <a:prstGeom prst="rect">
            <a:avLst/>
          </a:prstGeom>
          <a:noFill/>
          <a:ln>
            <a:noFill/>
          </a:ln>
        </p:spPr>
      </p:pic>
      <p:sp>
        <p:nvSpPr>
          <p:cNvPr id="140" name="Google Shape;140;p21"/>
          <p:cNvSpPr txBox="1"/>
          <p:nvPr/>
        </p:nvSpPr>
        <p:spPr>
          <a:xfrm>
            <a:off x="6322225" y="1232300"/>
            <a:ext cx="26922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Dashboard lengkapnya dapat di klik </a:t>
            </a:r>
            <a:r>
              <a:rPr lang="en" sz="1800" u="sng">
                <a:solidFill>
                  <a:schemeClr val="hlink"/>
                </a:solidFill>
                <a:hlinkClick r:id="rId6"/>
              </a:rPr>
              <a:t>disini</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144" name="Shape 144"/>
        <p:cNvGrpSpPr/>
        <p:nvPr/>
      </p:nvGrpSpPr>
      <p:grpSpPr>
        <a:xfrm>
          <a:off x="0" y="0"/>
          <a:ext cx="0" cy="0"/>
          <a:chOff x="0" y="0"/>
          <a:chExt cx="0" cy="0"/>
        </a:xfrm>
      </p:grpSpPr>
      <p:pic>
        <p:nvPicPr>
          <p:cNvPr id="145" name="Google Shape;145;p2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46" name="Google Shape;146;p22"/>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147" name="Google Shape;147;p22"/>
          <p:cNvSpPr txBox="1"/>
          <p:nvPr/>
        </p:nvSpPr>
        <p:spPr>
          <a:xfrm>
            <a:off x="2376000" y="1939850"/>
            <a:ext cx="4392000" cy="877200"/>
          </a:xfrm>
          <a:prstGeom prst="rect">
            <a:avLst/>
          </a:prstGeom>
          <a:noFill/>
          <a:ln>
            <a:noFill/>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ubik"/>
                <a:ea typeface="Rubik"/>
                <a:cs typeface="Rubik"/>
                <a:sym typeface="Rubik"/>
              </a:rPr>
              <a:t>Thank You</a:t>
            </a:r>
            <a:endParaRPr b="0" i="0" sz="2000" u="none" cap="none" strike="noStrike">
              <a:solidFill>
                <a:schemeClr val="lt1"/>
              </a:solidFill>
              <a:latin typeface="Rubik"/>
              <a:ea typeface="Rubik"/>
              <a:cs typeface="Rubik"/>
              <a:sym typeface="Rubik"/>
            </a:endParaRPr>
          </a:p>
        </p:txBody>
      </p:sp>
      <p:sp>
        <p:nvSpPr>
          <p:cNvPr id="148" name="Google Shape;148;p22"/>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149" name="Google Shape;149;p22"/>
          <p:cNvPicPr preferRelativeResize="0"/>
          <p:nvPr/>
        </p:nvPicPr>
        <p:blipFill rotWithShape="1">
          <a:blip r:embed="rId5">
            <a:alphaModFix/>
          </a:blip>
          <a:srcRect b="0" l="0" r="0" t="0"/>
          <a:stretch/>
        </p:blipFill>
        <p:spPr>
          <a:xfrm>
            <a:off x="4791975" y="4332637"/>
            <a:ext cx="1331949" cy="4783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